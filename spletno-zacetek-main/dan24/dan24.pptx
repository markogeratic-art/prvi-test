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77" r:id="rId7"/>
    <p:sldId id="279" r:id="rId8"/>
    <p:sldId id="278" r:id="rId9"/>
    <p:sldId id="280" r:id="rId10"/>
    <p:sldId id="281" r:id="rId11"/>
    <p:sldId id="262" r:id="rId12"/>
    <p:sldId id="270" r:id="rId13"/>
    <p:sldId id="265" r:id="rId14"/>
    <p:sldId id="266" r:id="rId15"/>
    <p:sldId id="284" r:id="rId16"/>
    <p:sldId id="263" r:id="rId17"/>
    <p:sldId id="283" r:id="rId18"/>
    <p:sldId id="272" r:id="rId19"/>
    <p:sldId id="271" r:id="rId20"/>
    <p:sldId id="273" r:id="rId21"/>
    <p:sldId id="264" r:id="rId22"/>
    <p:sldId id="267" r:id="rId23"/>
    <p:sldId id="268" r:id="rId24"/>
    <p:sldId id="269" r:id="rId25"/>
  </p:sldIdLst>
  <p:sldSz cx="12192000" cy="6858000"/>
  <p:notesSz cx="6858000" cy="9144000"/>
  <p:defaultTextStyle>
    <a:defPPr>
      <a:defRPr lang="sl-S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Naslovni diapoziti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17B4E7C1-FCD9-4EF0-0147-B24DD42699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90EBD2EF-F802-C1C4-0588-492BE200CE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l-SI"/>
              <a:t>Kliknite, če želite urediti slog podnaslova matrice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7ACEE474-70F9-CF31-AEF8-74CF5CEB3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FD96B-7914-4209-9959-68282BA48EFA}" type="datetimeFigureOut">
              <a:rPr lang="sl-SI" smtClean="0"/>
              <a:t>19. 02. 2026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EFD80252-F07A-63DC-591C-C79B7043D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FF00E100-B9C5-5319-1ABC-5C3E2228E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ADD6C-44D3-4781-B0A2-A5F80EE44BE2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416479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slov in vseb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1FB442FE-A591-8360-1BF2-CF4CD5F12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BE218C9-D7F0-E7D8-B2CE-6BE306074E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DEFAEE55-1EED-7082-C200-F54E8B83F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FD96B-7914-4209-9959-68282BA48EFA}" type="datetimeFigureOut">
              <a:rPr lang="sl-SI" smtClean="0"/>
              <a:t>19. 02. 2026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51048600-BADC-80BB-AFFA-64BD4031B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691E7EF7-43EA-7677-1E1C-EB92CCA58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ADD6C-44D3-4781-B0A2-A5F80EE44BE2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998828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Glava ods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275DB9D1-8EF4-A864-32FE-5203BEBA2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besedila 2">
            <a:extLst>
              <a:ext uri="{FF2B5EF4-FFF2-40B4-BE49-F238E27FC236}">
                <a16:creationId xmlns:a16="http://schemas.microsoft.com/office/drawing/2014/main" id="{2F4D3AF5-F504-F3FC-9482-5325911E23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5CB94193-45BE-FEC6-B305-0CE5717C9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FD96B-7914-4209-9959-68282BA48EFA}" type="datetimeFigureOut">
              <a:rPr lang="sl-SI" smtClean="0"/>
              <a:t>19. 02. 2026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37C48740-F745-EF5A-BCD3-620DCEB43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DEDDE449-1389-F1E8-001E-2F328569C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ADD6C-44D3-4781-B0A2-A5F80EE44BE2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531750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e vseb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782FC0C1-FE90-7C51-C878-52D30E8A8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38818A83-B8EF-7CC0-BA73-FFB904B1B9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vsebine 3">
            <a:extLst>
              <a:ext uri="{FF2B5EF4-FFF2-40B4-BE49-F238E27FC236}">
                <a16:creationId xmlns:a16="http://schemas.microsoft.com/office/drawing/2014/main" id="{6FAAEEFA-2177-EC67-8A12-E08CB97AF2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5" name="Označba mesta datuma 4">
            <a:extLst>
              <a:ext uri="{FF2B5EF4-FFF2-40B4-BE49-F238E27FC236}">
                <a16:creationId xmlns:a16="http://schemas.microsoft.com/office/drawing/2014/main" id="{14B00274-188E-642B-9EE6-F4E7149B4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FD96B-7914-4209-9959-68282BA48EFA}" type="datetimeFigureOut">
              <a:rPr lang="sl-SI" smtClean="0"/>
              <a:t>19. 02. 2026</a:t>
            </a:fld>
            <a:endParaRPr lang="sl-SI"/>
          </a:p>
        </p:txBody>
      </p:sp>
      <p:sp>
        <p:nvSpPr>
          <p:cNvPr id="6" name="Označba mesta noge 5">
            <a:extLst>
              <a:ext uri="{FF2B5EF4-FFF2-40B4-BE49-F238E27FC236}">
                <a16:creationId xmlns:a16="http://schemas.microsoft.com/office/drawing/2014/main" id="{D814A01D-B67B-B0BB-F01A-E82DD4D3E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7" name="Označba mesta številke diapozitiva 6">
            <a:extLst>
              <a:ext uri="{FF2B5EF4-FFF2-40B4-BE49-F238E27FC236}">
                <a16:creationId xmlns:a16="http://schemas.microsoft.com/office/drawing/2014/main" id="{1D215522-8C64-6464-34FA-6C6AF9E0C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ADD6C-44D3-4781-B0A2-A5F80EE44BE2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694729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rimerja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5A8BB542-487B-FE98-B884-94A7FF416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besedila 2">
            <a:extLst>
              <a:ext uri="{FF2B5EF4-FFF2-40B4-BE49-F238E27FC236}">
                <a16:creationId xmlns:a16="http://schemas.microsoft.com/office/drawing/2014/main" id="{3503DEB0-D5ED-7C2B-C377-77D2573D0C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4" name="Označba mesta vsebine 3">
            <a:extLst>
              <a:ext uri="{FF2B5EF4-FFF2-40B4-BE49-F238E27FC236}">
                <a16:creationId xmlns:a16="http://schemas.microsoft.com/office/drawing/2014/main" id="{AC191C61-A843-7F40-998B-A8DD503F2B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5" name="Označba mesta besedila 4">
            <a:extLst>
              <a:ext uri="{FF2B5EF4-FFF2-40B4-BE49-F238E27FC236}">
                <a16:creationId xmlns:a16="http://schemas.microsoft.com/office/drawing/2014/main" id="{E274827E-AEA6-9D6A-B3BB-64A98066A0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6" name="Označba mesta vsebine 5">
            <a:extLst>
              <a:ext uri="{FF2B5EF4-FFF2-40B4-BE49-F238E27FC236}">
                <a16:creationId xmlns:a16="http://schemas.microsoft.com/office/drawing/2014/main" id="{800B53D6-4C90-18E3-4ED0-C55F95E204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7" name="Označba mesta datuma 6">
            <a:extLst>
              <a:ext uri="{FF2B5EF4-FFF2-40B4-BE49-F238E27FC236}">
                <a16:creationId xmlns:a16="http://schemas.microsoft.com/office/drawing/2014/main" id="{AA6E9A8F-A258-BDE9-7E99-7A2BCAD3C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FD96B-7914-4209-9959-68282BA48EFA}" type="datetimeFigureOut">
              <a:rPr lang="sl-SI" smtClean="0"/>
              <a:t>19. 02. 2026</a:t>
            </a:fld>
            <a:endParaRPr lang="sl-SI"/>
          </a:p>
        </p:txBody>
      </p:sp>
      <p:sp>
        <p:nvSpPr>
          <p:cNvPr id="8" name="Označba mesta noge 7">
            <a:extLst>
              <a:ext uri="{FF2B5EF4-FFF2-40B4-BE49-F238E27FC236}">
                <a16:creationId xmlns:a16="http://schemas.microsoft.com/office/drawing/2014/main" id="{FBF8D842-C0FF-7B92-D6CC-B9B0D1790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9" name="Označba mesta številke diapozitiva 8">
            <a:extLst>
              <a:ext uri="{FF2B5EF4-FFF2-40B4-BE49-F238E27FC236}">
                <a16:creationId xmlns:a16="http://schemas.microsoft.com/office/drawing/2014/main" id="{45359601-3101-7EB1-B425-719D28F65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ADD6C-44D3-4781-B0A2-A5F80EE44BE2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05952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amo naslo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F2014BD8-1349-4383-BB0C-7FD92D854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datuma 2">
            <a:extLst>
              <a:ext uri="{FF2B5EF4-FFF2-40B4-BE49-F238E27FC236}">
                <a16:creationId xmlns:a16="http://schemas.microsoft.com/office/drawing/2014/main" id="{E936313C-6F51-0B30-6F0E-E6B0C42C0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FD96B-7914-4209-9959-68282BA48EFA}" type="datetimeFigureOut">
              <a:rPr lang="sl-SI" smtClean="0"/>
              <a:t>19. 02. 2026</a:t>
            </a:fld>
            <a:endParaRPr lang="sl-SI"/>
          </a:p>
        </p:txBody>
      </p:sp>
      <p:sp>
        <p:nvSpPr>
          <p:cNvPr id="4" name="Označba mesta noge 3">
            <a:extLst>
              <a:ext uri="{FF2B5EF4-FFF2-40B4-BE49-F238E27FC236}">
                <a16:creationId xmlns:a16="http://schemas.microsoft.com/office/drawing/2014/main" id="{76056FF3-3DE3-504D-7B3A-2D124268A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5" name="Označba mesta številke diapozitiva 4">
            <a:extLst>
              <a:ext uri="{FF2B5EF4-FFF2-40B4-BE49-F238E27FC236}">
                <a16:creationId xmlns:a16="http://schemas.microsoft.com/office/drawing/2014/main" id="{23E3085E-74B1-CBE3-3E74-8EE2F72D7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ADD6C-44D3-4781-B0A2-A5F80EE44BE2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279277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az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datuma 1">
            <a:extLst>
              <a:ext uri="{FF2B5EF4-FFF2-40B4-BE49-F238E27FC236}">
                <a16:creationId xmlns:a16="http://schemas.microsoft.com/office/drawing/2014/main" id="{8B5D28B2-5B10-0D27-237A-A9CE65825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FD96B-7914-4209-9959-68282BA48EFA}" type="datetimeFigureOut">
              <a:rPr lang="sl-SI" smtClean="0"/>
              <a:t>19. 02. 2026</a:t>
            </a:fld>
            <a:endParaRPr lang="sl-SI"/>
          </a:p>
        </p:txBody>
      </p:sp>
      <p:sp>
        <p:nvSpPr>
          <p:cNvPr id="3" name="Označba mesta noge 2">
            <a:extLst>
              <a:ext uri="{FF2B5EF4-FFF2-40B4-BE49-F238E27FC236}">
                <a16:creationId xmlns:a16="http://schemas.microsoft.com/office/drawing/2014/main" id="{9EE25BF0-62FA-A276-B8ED-92873ED66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4" name="Označba mesta številke diapozitiva 3">
            <a:extLst>
              <a:ext uri="{FF2B5EF4-FFF2-40B4-BE49-F238E27FC236}">
                <a16:creationId xmlns:a16="http://schemas.microsoft.com/office/drawing/2014/main" id="{D764A97E-27D1-0644-754B-296A92E3D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ADD6C-44D3-4781-B0A2-A5F80EE44BE2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384661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Vsebina z naslov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4042C041-B178-0D2A-9B0C-D3A5F5E70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93A541D4-62D5-EA24-8CAF-FE784523DF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besedila 3">
            <a:extLst>
              <a:ext uri="{FF2B5EF4-FFF2-40B4-BE49-F238E27FC236}">
                <a16:creationId xmlns:a16="http://schemas.microsoft.com/office/drawing/2014/main" id="{16CD97E3-56E2-DB45-77C9-3F0647EF76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5" name="Označba mesta datuma 4">
            <a:extLst>
              <a:ext uri="{FF2B5EF4-FFF2-40B4-BE49-F238E27FC236}">
                <a16:creationId xmlns:a16="http://schemas.microsoft.com/office/drawing/2014/main" id="{D8C13BF6-99B1-621A-2254-29407F7A3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FD96B-7914-4209-9959-68282BA48EFA}" type="datetimeFigureOut">
              <a:rPr lang="sl-SI" smtClean="0"/>
              <a:t>19. 02. 2026</a:t>
            </a:fld>
            <a:endParaRPr lang="sl-SI"/>
          </a:p>
        </p:txBody>
      </p:sp>
      <p:sp>
        <p:nvSpPr>
          <p:cNvPr id="6" name="Označba mesta noge 5">
            <a:extLst>
              <a:ext uri="{FF2B5EF4-FFF2-40B4-BE49-F238E27FC236}">
                <a16:creationId xmlns:a16="http://schemas.microsoft.com/office/drawing/2014/main" id="{ACF4D958-1A4D-BF97-BA09-CCD1DA8D4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7" name="Označba mesta številke diapozitiva 6">
            <a:extLst>
              <a:ext uri="{FF2B5EF4-FFF2-40B4-BE49-F238E27FC236}">
                <a16:creationId xmlns:a16="http://schemas.microsoft.com/office/drawing/2014/main" id="{1B9AA3FB-61ED-D890-9BE7-B62D9373D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ADD6C-44D3-4781-B0A2-A5F80EE44BE2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241609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Naslov in sli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DCB3AA37-FD63-D5D8-B250-481BD227F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slike 2">
            <a:extLst>
              <a:ext uri="{FF2B5EF4-FFF2-40B4-BE49-F238E27FC236}">
                <a16:creationId xmlns:a16="http://schemas.microsoft.com/office/drawing/2014/main" id="{E2F760FD-435D-DAFB-0A32-465CA44546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l-SI"/>
          </a:p>
        </p:txBody>
      </p:sp>
      <p:sp>
        <p:nvSpPr>
          <p:cNvPr id="4" name="Označba mesta besedila 3">
            <a:extLst>
              <a:ext uri="{FF2B5EF4-FFF2-40B4-BE49-F238E27FC236}">
                <a16:creationId xmlns:a16="http://schemas.microsoft.com/office/drawing/2014/main" id="{CE202E59-F133-597D-DFFD-611F47FEAF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5" name="Označba mesta datuma 4">
            <a:extLst>
              <a:ext uri="{FF2B5EF4-FFF2-40B4-BE49-F238E27FC236}">
                <a16:creationId xmlns:a16="http://schemas.microsoft.com/office/drawing/2014/main" id="{1518F72D-3D03-D096-A76B-F9EE917CB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FD96B-7914-4209-9959-68282BA48EFA}" type="datetimeFigureOut">
              <a:rPr lang="sl-SI" smtClean="0"/>
              <a:t>19. 02. 2026</a:t>
            </a:fld>
            <a:endParaRPr lang="sl-SI"/>
          </a:p>
        </p:txBody>
      </p:sp>
      <p:sp>
        <p:nvSpPr>
          <p:cNvPr id="6" name="Označba mesta noge 5">
            <a:extLst>
              <a:ext uri="{FF2B5EF4-FFF2-40B4-BE49-F238E27FC236}">
                <a16:creationId xmlns:a16="http://schemas.microsoft.com/office/drawing/2014/main" id="{BDE7ABB0-6DFE-FECC-FE19-540D670AE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7" name="Označba mesta številke diapozitiva 6">
            <a:extLst>
              <a:ext uri="{FF2B5EF4-FFF2-40B4-BE49-F238E27FC236}">
                <a16:creationId xmlns:a16="http://schemas.microsoft.com/office/drawing/2014/main" id="{AB7B712A-50FF-8C67-5CB3-0FFE0877D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ADD6C-44D3-4781-B0A2-A5F80EE44BE2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872080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slov in navpično besedi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D9182BC8-C55E-F16F-CF55-F6A9484ED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navpičnega besedila 2">
            <a:extLst>
              <a:ext uri="{FF2B5EF4-FFF2-40B4-BE49-F238E27FC236}">
                <a16:creationId xmlns:a16="http://schemas.microsoft.com/office/drawing/2014/main" id="{6DAFA0FF-8E00-FA4C-11F8-88F8D8225D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29E4548B-89F5-0A7B-FF07-3842FD535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FD96B-7914-4209-9959-68282BA48EFA}" type="datetimeFigureOut">
              <a:rPr lang="sl-SI" smtClean="0"/>
              <a:t>19. 02. 2026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5F736860-9835-13E0-BEAB-1C4C5986F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9CF0754C-0134-3553-8B32-B0E1EA53B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ADD6C-44D3-4781-B0A2-A5F80EE44BE2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322306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Navpični naslov in besedi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pični naslov 1">
            <a:extLst>
              <a:ext uri="{FF2B5EF4-FFF2-40B4-BE49-F238E27FC236}">
                <a16:creationId xmlns:a16="http://schemas.microsoft.com/office/drawing/2014/main" id="{9F8E0FCD-BA30-CE68-351E-40A800F443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navpičnega besedila 2">
            <a:extLst>
              <a:ext uri="{FF2B5EF4-FFF2-40B4-BE49-F238E27FC236}">
                <a16:creationId xmlns:a16="http://schemas.microsoft.com/office/drawing/2014/main" id="{BE293F20-BB49-DC7C-93BE-0505B80B6F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EFF076C6-7ECC-9C2C-2F11-D19B34746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FD96B-7914-4209-9959-68282BA48EFA}" type="datetimeFigureOut">
              <a:rPr lang="sl-SI" smtClean="0"/>
              <a:t>19. 02. 2026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90A6D46E-3785-BAE2-7146-6DF974B04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38A81861-80DF-4EAC-7B11-E6267F3B9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ADD6C-44D3-4781-B0A2-A5F80EE44BE2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5974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naslova 1">
            <a:extLst>
              <a:ext uri="{FF2B5EF4-FFF2-40B4-BE49-F238E27FC236}">
                <a16:creationId xmlns:a16="http://schemas.microsoft.com/office/drawing/2014/main" id="{C91173C0-4700-4DC7-DD9D-EA71169CC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besedila 2">
            <a:extLst>
              <a:ext uri="{FF2B5EF4-FFF2-40B4-BE49-F238E27FC236}">
                <a16:creationId xmlns:a16="http://schemas.microsoft.com/office/drawing/2014/main" id="{7BA36F48-1A24-27BE-991E-FA1C0B5F58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33F734B5-2E41-31FB-FF84-1FF66D7AA1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9FD96B-7914-4209-9959-68282BA48EFA}" type="datetimeFigureOut">
              <a:rPr lang="sl-SI" smtClean="0"/>
              <a:t>19. 02. 2026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793A62B1-4153-9243-AB37-0DF970EF2E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DA08974A-2193-8E19-73C5-1655C971B9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CADD6C-44D3-4781-B0A2-A5F80EE44BE2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604472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l-S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example.com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.mozilla.org/en-US/docs/Web/HTTP/Reference/Methods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D9C5C36E-6659-3386-549B-51B58FD99C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l-SI" dirty="0"/>
              <a:t>API in </a:t>
            </a:r>
            <a:r>
              <a:rPr lang="sl-SI" dirty="0" err="1"/>
              <a:t>FastAPI</a:t>
            </a:r>
            <a:endParaRPr lang="sl-SI" dirty="0"/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63BA28A7-6459-3335-02E5-A17BF9AB22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19238505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385247AE-631A-39FF-9C00-C01664202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Koncept API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1A8AA3D4-5867-41B5-F369-CF94C6A8DF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l-SI" dirty="0"/>
              <a:t>API (</a:t>
            </a:r>
            <a:r>
              <a:rPr lang="sl-SI" dirty="0" err="1"/>
              <a:t>Application</a:t>
            </a:r>
            <a:r>
              <a:rPr lang="sl-SI" dirty="0"/>
              <a:t> </a:t>
            </a:r>
            <a:r>
              <a:rPr lang="sl-SI" dirty="0" err="1"/>
              <a:t>Programming</a:t>
            </a:r>
            <a:r>
              <a:rPr lang="sl-SI" dirty="0"/>
              <a:t> </a:t>
            </a:r>
            <a:r>
              <a:rPr lang="sl-SI" dirty="0" err="1"/>
              <a:t>Interface</a:t>
            </a:r>
            <a:r>
              <a:rPr lang="sl-SI" dirty="0"/>
              <a:t>)</a:t>
            </a:r>
          </a:p>
          <a:p>
            <a:r>
              <a:rPr lang="sl-SI" dirty="0"/>
              <a:t>Omogoča komunikacijo med aplikacijo</a:t>
            </a:r>
          </a:p>
          <a:p>
            <a:r>
              <a:rPr lang="sl-SI" dirty="0"/>
              <a:t>Določa pravila za zahteve in odgovore</a:t>
            </a:r>
          </a:p>
          <a:p>
            <a:r>
              <a:rPr lang="sl-SI" dirty="0"/>
              <a:t>Najpogosteje HTTP (</a:t>
            </a:r>
            <a:r>
              <a:rPr lang="sl-SI" dirty="0" err="1"/>
              <a:t>gRPC</a:t>
            </a:r>
            <a:r>
              <a:rPr lang="sl-SI" dirty="0"/>
              <a:t> in drugih ne bomo obravnavali)</a:t>
            </a:r>
          </a:p>
          <a:p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3856850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7A2CC640-9895-48E6-F19E-2FA442EC7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Kaj pomeni HTTP?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900F55C4-2796-F9AB-1DDD-9D7A33983D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l-SI" dirty="0"/>
              <a:t>HTTP = </a:t>
            </a:r>
            <a:r>
              <a:rPr lang="sl-SI" dirty="0" err="1"/>
              <a:t>Hypertext</a:t>
            </a:r>
            <a:r>
              <a:rPr lang="sl-SI" dirty="0"/>
              <a:t> Transfer </a:t>
            </a:r>
            <a:r>
              <a:rPr lang="sl-SI" dirty="0" err="1"/>
              <a:t>Protocol</a:t>
            </a:r>
            <a:endParaRPr lang="sl-SI" dirty="0"/>
          </a:p>
          <a:p>
            <a:r>
              <a:rPr lang="sl-SI" dirty="0"/>
              <a:t>Razvil ga je Tim Berners-Lee v organizaciji CERN</a:t>
            </a:r>
          </a:p>
          <a:p>
            <a:r>
              <a:rPr lang="pl-PL" dirty="0"/>
              <a:t>HTTP določa </a:t>
            </a:r>
            <a:r>
              <a:rPr lang="pl-PL" b="1" dirty="0"/>
              <a:t>kako se podatki prenesejo</a:t>
            </a:r>
            <a:r>
              <a:rPr lang="pl-PL" dirty="0"/>
              <a:t> s strežnika do odjemalca (brskalnika).</a:t>
            </a:r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21798326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e illustration of the URL, URN, and URI [26]. | Download Scientific  Diagram">
            <a:extLst>
              <a:ext uri="{FF2B5EF4-FFF2-40B4-BE49-F238E27FC236}">
                <a16:creationId xmlns:a16="http://schemas.microsoft.com/office/drawing/2014/main" id="{626D59E2-37EE-CB9E-F23F-9E29EEACB5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0645" y="1187355"/>
            <a:ext cx="5072705" cy="2945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EB7866B0-E41C-0F91-2551-99C9CB88B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Primer HTTP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DDAAD095-2365-A9E8-7CD7-0B16EF4589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l-SI" dirty="0"/>
              <a:t>Vpišemo </a:t>
            </a:r>
            <a:r>
              <a:rPr lang="sl-SI" dirty="0">
                <a:hlinkClick r:id="rId3"/>
              </a:rPr>
              <a:t>http://example.com</a:t>
            </a:r>
            <a:endParaRPr lang="sl-SI" dirty="0"/>
          </a:p>
          <a:p>
            <a:r>
              <a:rPr lang="sl-SI" dirty="0"/>
              <a:t>Brskalnik pošlje HTTP </a:t>
            </a:r>
            <a:r>
              <a:rPr lang="sl-SI" dirty="0" err="1"/>
              <a:t>Request</a:t>
            </a:r>
            <a:endParaRPr lang="sl-SI" dirty="0"/>
          </a:p>
          <a:p>
            <a:r>
              <a:rPr lang="sl-SI" dirty="0"/>
              <a:t>Strežnik vrne:</a:t>
            </a:r>
          </a:p>
          <a:p>
            <a:pPr lvl="1"/>
            <a:r>
              <a:rPr lang="sl-SI" dirty="0" err="1"/>
              <a:t>Header</a:t>
            </a:r>
            <a:r>
              <a:rPr lang="sl-SI" dirty="0"/>
              <a:t> (statusna koda, npr. 200 OK)</a:t>
            </a:r>
          </a:p>
          <a:p>
            <a:pPr lvl="1"/>
            <a:r>
              <a:rPr lang="sl-SI" dirty="0"/>
              <a:t>Body (dejanska vsebina, npr. </a:t>
            </a:r>
            <a:r>
              <a:rPr lang="sl-SI" dirty="0" err="1"/>
              <a:t>index.html</a:t>
            </a:r>
            <a:r>
              <a:rPr lang="sl-SI" dirty="0"/>
              <a:t>)</a:t>
            </a:r>
          </a:p>
          <a:p>
            <a:r>
              <a:rPr lang="sl-SI" dirty="0"/>
              <a:t>Brskalnik prikaže stran</a:t>
            </a:r>
          </a:p>
        </p:txBody>
      </p:sp>
    </p:spTree>
    <p:extLst>
      <p:ext uri="{BB962C8B-B14F-4D97-AF65-F5344CB8AC3E}">
        <p14:creationId xmlns:p14="http://schemas.microsoft.com/office/powerpoint/2010/main" val="1281935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58F9C5DB-0063-7999-56FA-47EB2A9E9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Različice HTTP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E20DD359-F7AF-7AC5-CF85-DB30CA993F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l-SI" dirty="0" err="1"/>
              <a:t>HTTP/0.9</a:t>
            </a:r>
            <a:r>
              <a:rPr lang="sl-SI" dirty="0"/>
              <a:t> (1989)</a:t>
            </a:r>
          </a:p>
          <a:p>
            <a:r>
              <a:rPr lang="sl-SI" dirty="0"/>
              <a:t>Podpira le: GET /</a:t>
            </a:r>
            <a:r>
              <a:rPr lang="sl-SI" dirty="0" err="1"/>
              <a:t>index.html</a:t>
            </a:r>
            <a:endParaRPr lang="sl-SI" dirty="0"/>
          </a:p>
          <a:p>
            <a:r>
              <a:rPr lang="sl-SI" dirty="0"/>
              <a:t>Brez </a:t>
            </a:r>
            <a:r>
              <a:rPr lang="sl-SI" dirty="0" err="1"/>
              <a:t>headerjev</a:t>
            </a:r>
            <a:endParaRPr lang="sl-SI" dirty="0"/>
          </a:p>
          <a:p>
            <a:r>
              <a:rPr lang="sl-SI" dirty="0"/>
              <a:t>Le HTML datoteke</a:t>
            </a:r>
          </a:p>
          <a:p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3854121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4E7E1CE7-68C3-9469-ADDB-CF83D1F73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Različice HTTP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174DE1AB-ACD0-D152-8A41-4AE1F1FD0B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sl-SI" dirty="0" err="1"/>
              <a:t>HTTP/1.1</a:t>
            </a:r>
            <a:r>
              <a:rPr lang="sl-SI" dirty="0"/>
              <a:t> (1997)</a:t>
            </a:r>
          </a:p>
          <a:p>
            <a:r>
              <a:rPr lang="sl-SI" dirty="0" err="1"/>
              <a:t>Keepalive</a:t>
            </a:r>
            <a:r>
              <a:rPr lang="sl-SI" dirty="0"/>
              <a:t>: Odjemalec lahko ohrani odprto povezavo iz </a:t>
            </a:r>
          </a:p>
          <a:p>
            <a:r>
              <a:rPr lang="sl-SI" dirty="0"/>
              <a:t>HTTP </a:t>
            </a:r>
            <a:r>
              <a:rPr lang="sl-SI" dirty="0" err="1"/>
              <a:t>pipelining</a:t>
            </a:r>
            <a:r>
              <a:rPr lang="sl-SI" dirty="0"/>
              <a:t> omogoča odjemalcu, da pošlje drug zahtevek, preden prejme odgovor na prvega.</a:t>
            </a:r>
          </a:p>
          <a:p>
            <a:r>
              <a:rPr lang="sl-SI" dirty="0"/>
              <a:t>Podatki se lahko pošiljajo tudi od odjemalca do strežnika (obrazci).</a:t>
            </a:r>
          </a:p>
          <a:p>
            <a:r>
              <a:rPr lang="sl-SI" dirty="0" err="1"/>
              <a:t>Cache</a:t>
            </a:r>
            <a:r>
              <a:rPr lang="sl-SI" dirty="0"/>
              <a:t>: Obstajajo novi mehanizmi za shranjevanje vsebine v predpomnilniku.</a:t>
            </a:r>
          </a:p>
          <a:p>
            <a:r>
              <a:rPr lang="sl-SI" dirty="0"/>
              <a:t>Host: Zahteva HTTP bo delovala zaradi dane specifikacije v glavi (tj. skupno gostovanje spletnih strani).</a:t>
            </a:r>
          </a:p>
        </p:txBody>
      </p:sp>
    </p:spTree>
    <p:extLst>
      <p:ext uri="{BB962C8B-B14F-4D97-AF65-F5344CB8AC3E}">
        <p14:creationId xmlns:p14="http://schemas.microsoft.com/office/powerpoint/2010/main" val="27367926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FBB70526-4EB0-D5FC-6264-9ED65AE8DD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1816" y="559600"/>
            <a:ext cx="5780184" cy="5738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8E21980C-D88A-ED20-8ED5-653FC8962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Različice HTTP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DA9A201F-0FC6-D7E9-E2DB-FD4DE7C6D5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l-SI" dirty="0"/>
              <a:t>HTTP/2 (2015)</a:t>
            </a:r>
          </a:p>
          <a:p>
            <a:r>
              <a:rPr lang="sl-SI" dirty="0"/>
              <a:t>Binaren</a:t>
            </a:r>
          </a:p>
          <a:p>
            <a:r>
              <a:rPr lang="sl-SI" dirty="0"/>
              <a:t>Vgrajena kompresija</a:t>
            </a:r>
          </a:p>
          <a:p>
            <a:r>
              <a:rPr lang="sl-SI" dirty="0"/>
              <a:t>Server </a:t>
            </a:r>
            <a:r>
              <a:rPr lang="sl-SI" dirty="0" err="1"/>
              <a:t>push</a:t>
            </a:r>
            <a:r>
              <a:rPr lang="sl-SI" dirty="0"/>
              <a:t> (predvidevanje vsebine)</a:t>
            </a:r>
          </a:p>
          <a:p>
            <a:r>
              <a:rPr lang="sl-SI" dirty="0" err="1"/>
              <a:t>Multiplexsiranje</a:t>
            </a:r>
            <a:r>
              <a:rPr lang="sl-SI" dirty="0"/>
              <a:t> zahtev</a:t>
            </a:r>
          </a:p>
        </p:txBody>
      </p:sp>
    </p:spTree>
    <p:extLst>
      <p:ext uri="{BB962C8B-B14F-4D97-AF65-F5344CB8AC3E}">
        <p14:creationId xmlns:p14="http://schemas.microsoft.com/office/powerpoint/2010/main" val="17245352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Kako </a:t>
            </a:r>
            <a:r>
              <a:rPr dirty="0" err="1"/>
              <a:t>deluje</a:t>
            </a:r>
            <a:r>
              <a:rPr dirty="0"/>
              <a:t> API?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l-SI" dirty="0"/>
              <a:t>Odjemalec</a:t>
            </a:r>
            <a:r>
              <a:rPr dirty="0"/>
              <a:t> </a:t>
            </a:r>
            <a:r>
              <a:rPr dirty="0" err="1"/>
              <a:t>pošlje</a:t>
            </a:r>
            <a:r>
              <a:rPr lang="sl-SI" dirty="0"/>
              <a:t> </a:t>
            </a:r>
            <a:r>
              <a:rPr dirty="0" err="1"/>
              <a:t>zahtevo</a:t>
            </a:r>
            <a:endParaRPr dirty="0"/>
          </a:p>
          <a:p>
            <a:r>
              <a:rPr lang="sl-SI" dirty="0"/>
              <a:t>Strežnik</a:t>
            </a:r>
            <a:r>
              <a:rPr dirty="0"/>
              <a:t> </a:t>
            </a:r>
            <a:r>
              <a:rPr dirty="0" err="1"/>
              <a:t>obdela</a:t>
            </a:r>
            <a:r>
              <a:rPr dirty="0"/>
              <a:t> </a:t>
            </a:r>
            <a:r>
              <a:rPr dirty="0" err="1"/>
              <a:t>zahtevo</a:t>
            </a:r>
            <a:endParaRPr dirty="0"/>
          </a:p>
          <a:p>
            <a:r>
              <a:rPr lang="sl-SI" dirty="0"/>
              <a:t>Strežnik</a:t>
            </a:r>
            <a:r>
              <a:rPr dirty="0"/>
              <a:t> </a:t>
            </a:r>
            <a:r>
              <a:rPr dirty="0" err="1"/>
              <a:t>vrne</a:t>
            </a:r>
            <a:r>
              <a:rPr dirty="0"/>
              <a:t> </a:t>
            </a:r>
            <a:r>
              <a:rPr dirty="0" err="1"/>
              <a:t>odgovor</a:t>
            </a:r>
            <a:endParaRPr dirty="0"/>
          </a:p>
          <a:p>
            <a:r>
              <a:rPr dirty="0" err="1"/>
              <a:t>Odgovor</a:t>
            </a:r>
            <a:r>
              <a:rPr dirty="0"/>
              <a:t> je </a:t>
            </a:r>
            <a:r>
              <a:rPr dirty="0" err="1"/>
              <a:t>pogosto</a:t>
            </a:r>
            <a:r>
              <a:rPr dirty="0"/>
              <a:t> v </a:t>
            </a:r>
            <a:r>
              <a:rPr dirty="0" err="1"/>
              <a:t>formatu</a:t>
            </a:r>
            <a:r>
              <a:rPr dirty="0"/>
              <a:t> JSON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4" descr="What is an API? | CORSAIR">
            <a:extLst>
              <a:ext uri="{FF2B5EF4-FFF2-40B4-BE49-F238E27FC236}">
                <a16:creationId xmlns:a16="http://schemas.microsoft.com/office/drawing/2014/main" id="{0FDD4AC2-E257-74C5-951B-2CA6915360B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sl-SI"/>
          </a:p>
        </p:txBody>
      </p:sp>
      <p:sp>
        <p:nvSpPr>
          <p:cNvPr id="6" name="AutoShape 6" descr="rest-api">
            <a:extLst>
              <a:ext uri="{FF2B5EF4-FFF2-40B4-BE49-F238E27FC236}">
                <a16:creationId xmlns:a16="http://schemas.microsoft.com/office/drawing/2014/main" id="{927E1D5E-3FBA-4155-6A9C-A5DB6BF5703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sl-SI"/>
          </a:p>
        </p:txBody>
      </p:sp>
      <p:pic>
        <p:nvPicPr>
          <p:cNvPr id="8" name="Slika 7" descr="Slika, ki vsebuje besede besedilo, posnetek zaslona, diagram, pisava&#10;&#10;Vsebina, ustvarjena z UI, morda ni pravilna.">
            <a:extLst>
              <a:ext uri="{FF2B5EF4-FFF2-40B4-BE49-F238E27FC236}">
                <a16:creationId xmlns:a16="http://schemas.microsoft.com/office/drawing/2014/main" id="{87E4FD56-7021-17CF-3848-0FFAF99A32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8598" y="350478"/>
            <a:ext cx="7806202" cy="6041710"/>
          </a:xfrm>
          <a:prstGeom prst="rect">
            <a:avLst/>
          </a:prstGeom>
        </p:spPr>
      </p:pic>
      <p:sp>
        <p:nvSpPr>
          <p:cNvPr id="9" name="PoljeZBesedilom 8">
            <a:extLst>
              <a:ext uri="{FF2B5EF4-FFF2-40B4-BE49-F238E27FC236}">
                <a16:creationId xmlns:a16="http://schemas.microsoft.com/office/drawing/2014/main" id="{2F6CB711-F2F8-480B-3C15-EBEDE144DE57}"/>
              </a:ext>
            </a:extLst>
          </p:cNvPr>
          <p:cNvSpPr txBox="1"/>
          <p:nvPr/>
        </p:nvSpPr>
        <p:spPr>
          <a:xfrm>
            <a:off x="1530350" y="618212"/>
            <a:ext cx="6801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l-SI" dirty="0"/>
              <a:t>RE</a:t>
            </a:r>
            <a:r>
              <a:rPr lang="en-US" dirty="0" err="1"/>
              <a:t>pres</a:t>
            </a:r>
            <a:r>
              <a:rPr lang="sl-SI" dirty="0"/>
              <a:t>e</a:t>
            </a:r>
            <a:r>
              <a:rPr lang="en-US" dirty="0" err="1"/>
              <a:t>ntational</a:t>
            </a:r>
            <a:r>
              <a:rPr lang="en-US" dirty="0"/>
              <a:t> </a:t>
            </a:r>
            <a:r>
              <a:rPr lang="sl-SI" dirty="0"/>
              <a:t>S</a:t>
            </a:r>
            <a:r>
              <a:rPr lang="en-US" dirty="0" err="1"/>
              <a:t>tate</a:t>
            </a:r>
            <a:r>
              <a:rPr lang="en-US" dirty="0"/>
              <a:t> </a:t>
            </a:r>
            <a:r>
              <a:rPr lang="sl-SI" dirty="0"/>
              <a:t>T</a:t>
            </a:r>
            <a:r>
              <a:rPr lang="en-US" dirty="0" err="1"/>
              <a:t>ransfer</a:t>
            </a:r>
            <a:r>
              <a:rPr lang="en-US" dirty="0"/>
              <a:t> </a:t>
            </a:r>
            <a:r>
              <a:rPr lang="sl-SI" dirty="0"/>
              <a:t>A</a:t>
            </a:r>
            <a:r>
              <a:rPr lang="en-US" dirty="0" err="1"/>
              <a:t>pplication</a:t>
            </a:r>
            <a:r>
              <a:rPr lang="en-US" dirty="0"/>
              <a:t> </a:t>
            </a:r>
            <a:r>
              <a:rPr lang="sl-SI" dirty="0"/>
              <a:t>P</a:t>
            </a:r>
            <a:r>
              <a:rPr lang="en-US" dirty="0" err="1"/>
              <a:t>rogramming</a:t>
            </a:r>
            <a:r>
              <a:rPr lang="en-US" dirty="0"/>
              <a:t> </a:t>
            </a:r>
            <a:r>
              <a:rPr lang="sl-SI" dirty="0"/>
              <a:t>I</a:t>
            </a:r>
            <a:r>
              <a:rPr lang="en-US" dirty="0" err="1"/>
              <a:t>nterface</a:t>
            </a:r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39318338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GET zahteve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Uporabljamo</a:t>
            </a:r>
            <a:r>
              <a:rPr dirty="0"/>
              <a:t> za </a:t>
            </a:r>
            <a:r>
              <a:rPr dirty="0" err="1"/>
              <a:t>pridobivanje</a:t>
            </a:r>
            <a:r>
              <a:rPr dirty="0"/>
              <a:t> </a:t>
            </a:r>
            <a:r>
              <a:rPr dirty="0" err="1"/>
              <a:t>podatkov</a:t>
            </a:r>
            <a:endParaRPr dirty="0"/>
          </a:p>
          <a:p>
            <a:r>
              <a:rPr dirty="0" err="1"/>
              <a:t>Podatki</a:t>
            </a:r>
            <a:r>
              <a:rPr dirty="0"/>
              <a:t> se </a:t>
            </a:r>
            <a:r>
              <a:rPr dirty="0" err="1"/>
              <a:t>pošiljajo</a:t>
            </a:r>
            <a:r>
              <a:rPr dirty="0"/>
              <a:t> v URL (query </a:t>
            </a:r>
            <a:r>
              <a:rPr dirty="0" err="1"/>
              <a:t>parametri</a:t>
            </a:r>
            <a:r>
              <a:rPr dirty="0"/>
              <a:t>)</a:t>
            </a:r>
          </a:p>
          <a:p>
            <a:r>
              <a:rPr dirty="0"/>
              <a:t>Ne </a:t>
            </a:r>
            <a:r>
              <a:rPr dirty="0" err="1"/>
              <a:t>spreminjajo</a:t>
            </a:r>
            <a:r>
              <a:rPr dirty="0"/>
              <a:t> </a:t>
            </a:r>
            <a:r>
              <a:rPr dirty="0" err="1"/>
              <a:t>podatkov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strežniku</a:t>
            </a:r>
            <a:endParaRPr dirty="0"/>
          </a:p>
          <a:p>
            <a:r>
              <a:rPr dirty="0"/>
              <a:t>Primer: </a:t>
            </a:r>
            <a:r>
              <a:rPr dirty="0" err="1"/>
              <a:t>pridobivanje</a:t>
            </a:r>
            <a:r>
              <a:rPr dirty="0"/>
              <a:t> </a:t>
            </a:r>
            <a:r>
              <a:rPr dirty="0" err="1"/>
              <a:t>seznama</a:t>
            </a:r>
            <a:r>
              <a:rPr dirty="0"/>
              <a:t> </a:t>
            </a:r>
            <a:r>
              <a:rPr dirty="0" err="1"/>
              <a:t>uporabnikov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POST zahteve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Uporabljamo</a:t>
            </a:r>
            <a:r>
              <a:rPr dirty="0"/>
              <a:t> za </a:t>
            </a:r>
            <a:r>
              <a:rPr dirty="0" err="1"/>
              <a:t>pošiljanje</a:t>
            </a:r>
            <a:r>
              <a:rPr dirty="0"/>
              <a:t> </a:t>
            </a:r>
            <a:r>
              <a:rPr dirty="0" err="1"/>
              <a:t>podatkov</a:t>
            </a:r>
            <a:endParaRPr dirty="0"/>
          </a:p>
          <a:p>
            <a:r>
              <a:rPr dirty="0" err="1"/>
              <a:t>Podatki</a:t>
            </a:r>
            <a:r>
              <a:rPr dirty="0"/>
              <a:t> se </a:t>
            </a:r>
            <a:r>
              <a:rPr dirty="0" err="1"/>
              <a:t>pošljejo</a:t>
            </a:r>
            <a:r>
              <a:rPr dirty="0"/>
              <a:t> v </a:t>
            </a:r>
            <a:r>
              <a:rPr dirty="0" err="1"/>
              <a:t>telesu</a:t>
            </a:r>
            <a:r>
              <a:rPr dirty="0"/>
              <a:t> (body) </a:t>
            </a:r>
            <a:r>
              <a:rPr dirty="0" err="1"/>
              <a:t>zahteve</a:t>
            </a:r>
            <a:endParaRPr dirty="0"/>
          </a:p>
          <a:p>
            <a:r>
              <a:rPr dirty="0" err="1"/>
              <a:t>Uporablja</a:t>
            </a:r>
            <a:r>
              <a:rPr dirty="0"/>
              <a:t> se za </a:t>
            </a:r>
            <a:r>
              <a:rPr dirty="0" err="1"/>
              <a:t>ustvarjanje</a:t>
            </a:r>
            <a:r>
              <a:rPr dirty="0"/>
              <a:t> </a:t>
            </a:r>
            <a:r>
              <a:rPr dirty="0" err="1"/>
              <a:t>novih</a:t>
            </a:r>
            <a:r>
              <a:rPr dirty="0"/>
              <a:t> </a:t>
            </a:r>
            <a:r>
              <a:rPr dirty="0" err="1"/>
              <a:t>zapisov</a:t>
            </a:r>
            <a:endParaRPr dirty="0"/>
          </a:p>
          <a:p>
            <a:r>
              <a:rPr dirty="0"/>
              <a:t>Primer: </a:t>
            </a:r>
            <a:r>
              <a:rPr dirty="0" err="1"/>
              <a:t>registracija</a:t>
            </a:r>
            <a:r>
              <a:rPr dirty="0"/>
              <a:t> </a:t>
            </a:r>
            <a:r>
              <a:rPr dirty="0" err="1"/>
              <a:t>uporabnika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48BA55C5-4AAE-1B95-9FD8-41D15D5CD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Obstajajo tudi druge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B285159-A008-9858-2B99-67E4E5F6B0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l-SI" dirty="0">
                <a:hlinkClick r:id="rId2"/>
              </a:rPr>
              <a:t>https://developer.mozilla.org/en-US/docs/Web/HTTP/Reference/Methods</a:t>
            </a:r>
            <a:endParaRPr lang="sl-SI" dirty="0"/>
          </a:p>
          <a:p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35550480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Osnove FastAPI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Moderno Python </a:t>
            </a:r>
            <a:r>
              <a:rPr dirty="0" err="1"/>
              <a:t>ogrodje</a:t>
            </a:r>
            <a:r>
              <a:rPr dirty="0"/>
              <a:t> za </a:t>
            </a:r>
            <a:r>
              <a:rPr dirty="0" err="1"/>
              <a:t>razvoj</a:t>
            </a:r>
            <a:r>
              <a:rPr dirty="0"/>
              <a:t> API-</a:t>
            </a:r>
            <a:r>
              <a:rPr dirty="0" err="1"/>
              <a:t>jev</a:t>
            </a:r>
            <a:endParaRPr dirty="0"/>
          </a:p>
          <a:p>
            <a:r>
              <a:rPr dirty="0" err="1"/>
              <a:t>Zelo</a:t>
            </a:r>
            <a:r>
              <a:rPr dirty="0"/>
              <a:t> </a:t>
            </a:r>
            <a:r>
              <a:rPr dirty="0" err="1"/>
              <a:t>hitro</a:t>
            </a:r>
            <a:r>
              <a:rPr dirty="0"/>
              <a:t> (</a:t>
            </a:r>
            <a:r>
              <a:rPr dirty="0" err="1"/>
              <a:t>asinkrono</a:t>
            </a:r>
            <a:r>
              <a:rPr dirty="0"/>
              <a:t> </a:t>
            </a:r>
            <a:r>
              <a:rPr dirty="0" err="1"/>
              <a:t>delovanje</a:t>
            </a:r>
            <a:r>
              <a:rPr dirty="0"/>
              <a:t>)</a:t>
            </a:r>
          </a:p>
          <a:p>
            <a:r>
              <a:rPr dirty="0" err="1"/>
              <a:t>Samodejna</a:t>
            </a:r>
            <a:r>
              <a:rPr dirty="0"/>
              <a:t> </a:t>
            </a:r>
            <a:r>
              <a:rPr dirty="0" err="1"/>
              <a:t>dokumentacija</a:t>
            </a:r>
            <a:r>
              <a:rPr dirty="0"/>
              <a:t> (/docs)</a:t>
            </a:r>
          </a:p>
          <a:p>
            <a:r>
              <a:rPr dirty="0"/>
              <a:t>Podpora za type hints</a:t>
            </a:r>
          </a:p>
          <a:p>
            <a:r>
              <a:rPr dirty="0" err="1"/>
              <a:t>Pogosto</a:t>
            </a:r>
            <a:r>
              <a:rPr dirty="0"/>
              <a:t> se </a:t>
            </a:r>
            <a:r>
              <a:rPr dirty="0" err="1"/>
              <a:t>uporablja</a:t>
            </a:r>
            <a:r>
              <a:rPr dirty="0"/>
              <a:t> z </a:t>
            </a:r>
            <a:r>
              <a:rPr dirty="0" err="1"/>
              <a:t>Uvicorn</a:t>
            </a:r>
            <a:r>
              <a:rPr dirty="0"/>
              <a:t> </a:t>
            </a:r>
            <a:r>
              <a:rPr dirty="0" err="1"/>
              <a:t>strežnikom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44951286-053D-6786-C90F-8C92FCE66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67B660C1-4B0F-1A5F-D474-94DEF36770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sl-SI"/>
          </a:p>
        </p:txBody>
      </p:sp>
      <p:pic>
        <p:nvPicPr>
          <p:cNvPr id="5" name="Slika 4" descr="Slika, ki vsebuje besede besedilo, posnetek zaslona, programska oprema, večpredstavnost&#10;&#10;Vsebina, ustvarjena z UI, morda ni pravilna.">
            <a:extLst>
              <a:ext uri="{FF2B5EF4-FFF2-40B4-BE49-F238E27FC236}">
                <a16:creationId xmlns:a16="http://schemas.microsoft.com/office/drawing/2014/main" id="{B403CD8B-C283-A82C-930C-ADCD2147BB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4546" y="598467"/>
            <a:ext cx="5832403" cy="5578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183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8B003173-6891-B142-007E-F4292B5A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Najbolj preprost primer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FA404911-57C2-5CAC-2140-822BB7A432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sl-SI"/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175B9CA9-1107-36B8-9E04-AEF433977C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82812" y="2008188"/>
            <a:ext cx="9086625" cy="3080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6982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5DA6E554-F708-B653-950D-3EE945FB0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Preprost primer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ACBB92BA-23D5-AB48-96EA-457A4356AD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sl-SI" dirty="0"/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BD9AF42C-DD06-D85F-C8FF-CD3E606C23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1250" y="1467704"/>
            <a:ext cx="7696112" cy="4633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7903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ka 4" descr="Slika, ki vsebuje besede besedilo, posnetek zaslona, pisava, zaslon&#10;&#10;Vsebina, ustvarjena z UI, morda ni pravilna.">
            <a:extLst>
              <a:ext uri="{FF2B5EF4-FFF2-40B4-BE49-F238E27FC236}">
                <a16:creationId xmlns:a16="http://schemas.microsoft.com/office/drawing/2014/main" id="{8E2CD69E-A11B-40F5-D911-35622505DB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4729" y="958850"/>
            <a:ext cx="8763025" cy="5485653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39BA42F9-9154-A778-4CB7-0D50F08A0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Primer iz šablone</a:t>
            </a:r>
          </a:p>
        </p:txBody>
      </p:sp>
    </p:spTree>
    <p:extLst>
      <p:ext uri="{BB962C8B-B14F-4D97-AF65-F5344CB8AC3E}">
        <p14:creationId xmlns:p14="http://schemas.microsoft.com/office/powerpoint/2010/main" val="33908860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Ustvarjanje endpointov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Endpoint = URL pot do </a:t>
            </a:r>
            <a:r>
              <a:rPr dirty="0" err="1"/>
              <a:t>funkcije</a:t>
            </a:r>
            <a:endParaRPr dirty="0"/>
          </a:p>
          <a:p>
            <a:r>
              <a:rPr dirty="0" err="1"/>
              <a:t>Definiramo</a:t>
            </a:r>
            <a:r>
              <a:rPr dirty="0"/>
              <a:t> z </a:t>
            </a:r>
            <a:r>
              <a:rPr dirty="0" err="1"/>
              <a:t>dekoratorji</a:t>
            </a:r>
            <a:r>
              <a:rPr dirty="0"/>
              <a:t> (@app.get, @app.post)</a:t>
            </a:r>
          </a:p>
          <a:p>
            <a:r>
              <a:rPr dirty="0" err="1"/>
              <a:t>Vsak</a:t>
            </a:r>
            <a:r>
              <a:rPr dirty="0"/>
              <a:t> endpoint </a:t>
            </a:r>
            <a:r>
              <a:rPr dirty="0" err="1"/>
              <a:t>ima</a:t>
            </a:r>
            <a:r>
              <a:rPr dirty="0"/>
              <a:t> </a:t>
            </a:r>
            <a:r>
              <a:rPr dirty="0" err="1"/>
              <a:t>svojo</a:t>
            </a:r>
            <a:r>
              <a:rPr dirty="0"/>
              <a:t> pot (route)</a:t>
            </a:r>
          </a:p>
          <a:p>
            <a:r>
              <a:rPr dirty="0"/>
              <a:t>P</a:t>
            </a:r>
            <a:r>
              <a:rPr lang="sl-SI" dirty="0" err="1"/>
              <a:t>ogost</a:t>
            </a:r>
            <a:r>
              <a:rPr lang="sl-SI" dirty="0"/>
              <a:t> p</a:t>
            </a:r>
            <a:r>
              <a:rPr dirty="0"/>
              <a:t>rimer: /users, /items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Delo z JSON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JSON = JavaScript Object Notation</a:t>
            </a:r>
          </a:p>
          <a:p>
            <a:r>
              <a:rPr dirty="0" err="1"/>
              <a:t>Standardni</a:t>
            </a:r>
            <a:r>
              <a:rPr dirty="0"/>
              <a:t> format za </a:t>
            </a:r>
            <a:r>
              <a:rPr dirty="0" err="1"/>
              <a:t>izmenjavo</a:t>
            </a:r>
            <a:r>
              <a:rPr dirty="0"/>
              <a:t> </a:t>
            </a:r>
            <a:r>
              <a:rPr dirty="0" err="1"/>
              <a:t>podatkov</a:t>
            </a:r>
            <a:endParaRPr dirty="0"/>
          </a:p>
          <a:p>
            <a:r>
              <a:rPr dirty="0" err="1"/>
              <a:t>Strukturirani</a:t>
            </a:r>
            <a:r>
              <a:rPr dirty="0"/>
              <a:t> </a:t>
            </a:r>
            <a:r>
              <a:rPr dirty="0" err="1"/>
              <a:t>podatki</a:t>
            </a:r>
            <a:r>
              <a:rPr dirty="0"/>
              <a:t> (</a:t>
            </a:r>
            <a:r>
              <a:rPr dirty="0" err="1"/>
              <a:t>ključ</a:t>
            </a:r>
            <a:r>
              <a:rPr dirty="0"/>
              <a:t>: </a:t>
            </a:r>
            <a:r>
              <a:rPr dirty="0" err="1"/>
              <a:t>vrednost</a:t>
            </a:r>
            <a:r>
              <a:rPr dirty="0"/>
              <a:t>)</a:t>
            </a:r>
          </a:p>
          <a:p>
            <a:r>
              <a:rPr dirty="0" err="1"/>
              <a:t>FastAPI</a:t>
            </a:r>
            <a:r>
              <a:rPr dirty="0"/>
              <a:t> </a:t>
            </a:r>
            <a:r>
              <a:rPr dirty="0" err="1"/>
              <a:t>samodejno</a:t>
            </a:r>
            <a:r>
              <a:rPr dirty="0"/>
              <a:t> </a:t>
            </a:r>
            <a:r>
              <a:rPr dirty="0" err="1"/>
              <a:t>pretvarja</a:t>
            </a:r>
            <a:r>
              <a:rPr dirty="0"/>
              <a:t> Python ↔ JSON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AJAX komunikacija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AJAX = Asynchronous JavaScript and XML</a:t>
            </a:r>
          </a:p>
          <a:p>
            <a:r>
              <a:rPr dirty="0" err="1"/>
              <a:t>Omogoča</a:t>
            </a:r>
            <a:r>
              <a:rPr dirty="0"/>
              <a:t> </a:t>
            </a:r>
            <a:r>
              <a:rPr dirty="0" err="1"/>
              <a:t>komunikacijo</a:t>
            </a:r>
            <a:r>
              <a:rPr dirty="0"/>
              <a:t> </a:t>
            </a:r>
            <a:r>
              <a:rPr dirty="0" err="1"/>
              <a:t>brez</a:t>
            </a:r>
            <a:r>
              <a:rPr dirty="0"/>
              <a:t> </a:t>
            </a:r>
            <a:r>
              <a:rPr dirty="0" err="1"/>
              <a:t>osvežitve</a:t>
            </a:r>
            <a:r>
              <a:rPr dirty="0"/>
              <a:t> </a:t>
            </a:r>
            <a:r>
              <a:rPr dirty="0" err="1"/>
              <a:t>strani</a:t>
            </a:r>
            <a:endParaRPr dirty="0"/>
          </a:p>
          <a:p>
            <a:r>
              <a:rPr dirty="0" err="1"/>
              <a:t>Pošiljanje</a:t>
            </a:r>
            <a:r>
              <a:rPr dirty="0"/>
              <a:t> HTTP </a:t>
            </a:r>
            <a:r>
              <a:rPr dirty="0" err="1"/>
              <a:t>zahtev</a:t>
            </a:r>
            <a:r>
              <a:rPr dirty="0"/>
              <a:t> </a:t>
            </a:r>
            <a:r>
              <a:rPr dirty="0" err="1"/>
              <a:t>iz</a:t>
            </a:r>
            <a:r>
              <a:rPr dirty="0"/>
              <a:t> JavaScript</a:t>
            </a:r>
          </a:p>
          <a:p>
            <a:r>
              <a:rPr dirty="0" err="1"/>
              <a:t>Pogosto</a:t>
            </a:r>
            <a:r>
              <a:rPr dirty="0"/>
              <a:t> </a:t>
            </a:r>
            <a:r>
              <a:rPr dirty="0" err="1"/>
              <a:t>uporablja</a:t>
            </a:r>
            <a:r>
              <a:rPr dirty="0"/>
              <a:t> JSON format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Povezava frontend in backend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Frontend </a:t>
            </a:r>
            <a:r>
              <a:rPr dirty="0" err="1"/>
              <a:t>pošlje</a:t>
            </a:r>
            <a:r>
              <a:rPr dirty="0"/>
              <a:t> </a:t>
            </a:r>
            <a:r>
              <a:rPr dirty="0" err="1"/>
              <a:t>zahtevo</a:t>
            </a:r>
            <a:r>
              <a:rPr dirty="0"/>
              <a:t> (AJAX/fetch)</a:t>
            </a:r>
          </a:p>
          <a:p>
            <a:r>
              <a:rPr dirty="0"/>
              <a:t>Backend (</a:t>
            </a:r>
            <a:r>
              <a:rPr dirty="0" err="1"/>
              <a:t>FastAPI</a:t>
            </a:r>
            <a:r>
              <a:rPr dirty="0"/>
              <a:t>) </a:t>
            </a:r>
            <a:r>
              <a:rPr dirty="0" err="1"/>
              <a:t>obdela</a:t>
            </a:r>
            <a:r>
              <a:rPr dirty="0"/>
              <a:t> </a:t>
            </a:r>
            <a:r>
              <a:rPr dirty="0" err="1"/>
              <a:t>podatke</a:t>
            </a:r>
            <a:endParaRPr dirty="0"/>
          </a:p>
          <a:p>
            <a:r>
              <a:rPr dirty="0"/>
              <a:t>Backend </a:t>
            </a:r>
            <a:r>
              <a:rPr dirty="0" err="1"/>
              <a:t>vrne</a:t>
            </a:r>
            <a:r>
              <a:rPr dirty="0"/>
              <a:t> JSON </a:t>
            </a:r>
            <a:r>
              <a:rPr dirty="0" err="1"/>
              <a:t>odgovor</a:t>
            </a:r>
            <a:endParaRPr dirty="0"/>
          </a:p>
          <a:p>
            <a:r>
              <a:rPr dirty="0"/>
              <a:t>Frontend </a:t>
            </a:r>
            <a:r>
              <a:rPr dirty="0" err="1"/>
              <a:t>prikaže</a:t>
            </a:r>
            <a:r>
              <a:rPr dirty="0"/>
              <a:t> </a:t>
            </a:r>
            <a:r>
              <a:rPr dirty="0" err="1"/>
              <a:t>podatke</a:t>
            </a:r>
            <a:r>
              <a:rPr dirty="0"/>
              <a:t> </a:t>
            </a:r>
            <a:r>
              <a:rPr dirty="0" err="1"/>
              <a:t>uporabniku</a:t>
            </a:r>
            <a:endParaRPr dirty="0"/>
          </a:p>
          <a:p>
            <a:r>
              <a:rPr dirty="0" err="1"/>
              <a:t>Celoten</a:t>
            </a:r>
            <a:r>
              <a:rPr dirty="0"/>
              <a:t> </a:t>
            </a:r>
            <a:r>
              <a:rPr dirty="0" err="1"/>
              <a:t>proces</a:t>
            </a:r>
            <a:r>
              <a:rPr dirty="0"/>
              <a:t> </a:t>
            </a:r>
            <a:r>
              <a:rPr dirty="0" err="1"/>
              <a:t>poteka</a:t>
            </a:r>
            <a:r>
              <a:rPr dirty="0"/>
              <a:t> </a:t>
            </a:r>
            <a:r>
              <a:rPr dirty="0" err="1"/>
              <a:t>preko</a:t>
            </a:r>
            <a:r>
              <a:rPr dirty="0"/>
              <a:t> API-ja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ova tema">
  <a:themeElements>
    <a:clrScheme name="Pisarna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isarna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isarn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4D6CBE043B757D4E93D9F1CD85CA528C" ma:contentTypeVersion="18" ma:contentTypeDescription="Ustvari nov dokument." ma:contentTypeScope="" ma:versionID="ef3b48bf7eb7d98ce5fd59d9e459d3e6">
  <xsd:schema xmlns:xsd="http://www.w3.org/2001/XMLSchema" xmlns:xs="http://www.w3.org/2001/XMLSchema" xmlns:p="http://schemas.microsoft.com/office/2006/metadata/properties" xmlns:ns3="cf78163b-b4cd-4d37-8f11-7729e1646385" xmlns:ns4="36e613d8-465a-4612-a1c5-09a233bb096d" targetNamespace="http://schemas.microsoft.com/office/2006/metadata/properties" ma:root="true" ma:fieldsID="ccddee41b4ae90448b5c39cf8e0ab802" ns3:_="" ns4:_="">
    <xsd:import namespace="cf78163b-b4cd-4d37-8f11-7729e1646385"/>
    <xsd:import namespace="36e613d8-465a-4612-a1c5-09a233bb096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MediaServiceSearchProperties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f78163b-b4cd-4d37-8f11-7729e164638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23" nillable="true" ma:displayName="_activity" ma:hidden="true" ma:internalName="_activity">
      <xsd:simpleType>
        <xsd:restriction base="dms:Note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5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e613d8-465a-4612-a1c5-09a233bb096d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V skupni rabi z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V skupni rabi s podrobnostm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Razprševanje namiga za skupno rabo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Vrsta vsebine"/>
        <xsd:element ref="dc:title" minOccurs="0" maxOccurs="1" ma:index="4" ma:displayName="Naslov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f78163b-b4cd-4d37-8f11-7729e1646385" xsi:nil="true"/>
  </documentManagement>
</p:properties>
</file>

<file path=customXml/itemProps1.xml><?xml version="1.0" encoding="utf-8"?>
<ds:datastoreItem xmlns:ds="http://schemas.openxmlformats.org/officeDocument/2006/customXml" ds:itemID="{0A5EAAC1-72A0-4573-9948-AB89DDB4F67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EFFF82A-1ECB-419F-BB75-9F930D2CC6B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f78163b-b4cd-4d37-8f11-7729e1646385"/>
    <ds:schemaRef ds:uri="36e613d8-465a-4612-a1c5-09a233bb096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B3BE9BA-4B71-4A0D-B8B7-D09CF311D529}">
  <ds:schemaRefs>
    <ds:schemaRef ds:uri="http://schemas.microsoft.com/office/infopath/2007/PartnerControls"/>
    <ds:schemaRef ds:uri="http://www.w3.org/XML/1998/namespace"/>
    <ds:schemaRef ds:uri="http://purl.org/dc/elements/1.1/"/>
    <ds:schemaRef ds:uri="http://purl.org/dc/dcmitype/"/>
    <ds:schemaRef ds:uri="http://schemas.microsoft.com/office/2006/metadata/properties"/>
    <ds:schemaRef ds:uri="http://schemas.microsoft.com/office/2006/documentManagement/types"/>
    <ds:schemaRef ds:uri="36e613d8-465a-4612-a1c5-09a233bb096d"/>
    <ds:schemaRef ds:uri="http://schemas.openxmlformats.org/package/2006/metadata/core-properties"/>
    <ds:schemaRef ds:uri="cf78163b-b4cd-4d37-8f11-7729e1646385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474</Words>
  <Application>Microsoft Office PowerPoint</Application>
  <PresentationFormat>Širokozaslonsko</PresentationFormat>
  <Paragraphs>83</Paragraphs>
  <Slides>21</Slides>
  <Notes>0</Notes>
  <HiddenSlides>0</HiddenSlides>
  <MMClips>0</MMClips>
  <ScaleCrop>false</ScaleCrop>
  <HeadingPairs>
    <vt:vector size="6" baseType="variant">
      <vt:variant>
        <vt:lpstr>Uporabljene pisave</vt:lpstr>
      </vt:variant>
      <vt:variant>
        <vt:i4>3</vt:i4>
      </vt:variant>
      <vt:variant>
        <vt:lpstr>Tema</vt:lpstr>
      </vt:variant>
      <vt:variant>
        <vt:i4>1</vt:i4>
      </vt:variant>
      <vt:variant>
        <vt:lpstr>Naslovi diapozitivov</vt:lpstr>
      </vt:variant>
      <vt:variant>
        <vt:i4>21</vt:i4>
      </vt:variant>
    </vt:vector>
  </HeadingPairs>
  <TitlesOfParts>
    <vt:vector size="25" baseType="lpstr">
      <vt:lpstr>Aptos</vt:lpstr>
      <vt:lpstr>Aptos Display</vt:lpstr>
      <vt:lpstr>Arial</vt:lpstr>
      <vt:lpstr>Officeova tema</vt:lpstr>
      <vt:lpstr>API in FastAPI</vt:lpstr>
      <vt:lpstr>Koncept API</vt:lpstr>
      <vt:lpstr>Kaj pomeni HTTP?</vt:lpstr>
      <vt:lpstr>Primer HTTP</vt:lpstr>
      <vt:lpstr>Različice HTTP</vt:lpstr>
      <vt:lpstr>Različice HTTP</vt:lpstr>
      <vt:lpstr>Različice HTTP</vt:lpstr>
      <vt:lpstr>Kako deluje API?</vt:lpstr>
      <vt:lpstr>PowerPointova predstavitev</vt:lpstr>
      <vt:lpstr>GET zahteve</vt:lpstr>
      <vt:lpstr>POST zahteve</vt:lpstr>
      <vt:lpstr>Obstajajo tudi druge</vt:lpstr>
      <vt:lpstr>Osnove FastAPI</vt:lpstr>
      <vt:lpstr>PowerPointova predstavitev</vt:lpstr>
      <vt:lpstr>Najbolj preprost primer</vt:lpstr>
      <vt:lpstr>Preprost primer</vt:lpstr>
      <vt:lpstr>Primer iz šablone</vt:lpstr>
      <vt:lpstr>Ustvarjanje endpointov</vt:lpstr>
      <vt:lpstr>Delo z JSON</vt:lpstr>
      <vt:lpstr>AJAX komunikacija</vt:lpstr>
      <vt:lpstr>Povezava frontend in backend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Davor Ornik</dc:creator>
  <cp:lastModifiedBy>Davor Ornik</cp:lastModifiedBy>
  <cp:revision>36</cp:revision>
  <dcterms:created xsi:type="dcterms:W3CDTF">2026-02-18T22:45:47Z</dcterms:created>
  <dcterms:modified xsi:type="dcterms:W3CDTF">2026-02-19T05:38:28Z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0x0101004D6CBE043B757D4E93D9F1CD85CA528C</vt:lpwstr>
  </property>
</Properties>
</file>